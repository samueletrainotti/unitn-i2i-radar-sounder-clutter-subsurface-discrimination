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bc8adc7a8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bc8adc7a8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e1e06560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e1e06560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e1e06560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e1e06560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09777ce7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09777ce7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e1e06560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e1e06560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09777ce7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09777ce7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09777ce70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09777ce7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e1e06560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e1e06560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e2a1e5b8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ce2a1e5b8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1ec6facb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c1ec6facb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e1e06560d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be1e06560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e1e06560d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be1e06560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e17dfc67c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be17dfc67c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e17dfc67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be17dfc67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be17dfc67c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be17dfc67c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bf8f81e1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bf8f81e1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be17dfc67c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be17dfc67c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-150" y="1335000"/>
            <a:ext cx="91440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it" sz="3200"/>
              <a:t>Image-to-Image Translation for </a:t>
            </a:r>
            <a:endParaRPr b="1"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it" sz="3200"/>
              <a:t>Clutter and Subsurface Discrimination </a:t>
            </a:r>
            <a:endParaRPr b="1"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it" sz="3200"/>
              <a:t>in Radar Sounder Data </a:t>
            </a:r>
            <a:endParaRPr b="1" sz="32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727950" y="2938675"/>
            <a:ext cx="7688100" cy="9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/>
              <a:t>Samuele Trainotti</a:t>
            </a:r>
            <a:endParaRPr sz="21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/>
              <a:t>a.a. 2024/2025</a:t>
            </a:r>
            <a:endParaRPr sz="1400"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188725" cy="11887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7955150" y="0"/>
            <a:ext cx="1188600" cy="1188600"/>
          </a:xfrm>
          <a:prstGeom prst="rect">
            <a:avLst/>
          </a:prstGeom>
          <a:solidFill>
            <a:srgbClr val="351C7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55275" y="0"/>
            <a:ext cx="1188725" cy="118872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/>
        </p:nvSpPr>
        <p:spPr>
          <a:xfrm>
            <a:off x="198350" y="4324100"/>
            <a:ext cx="4188300" cy="7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Supervisor: Bruzzone Lorenzo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Co-Supervisor: Dal Corso Jordy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it" sz="3020"/>
              <a:t>Planetary Exploration &amp; Data Volume</a:t>
            </a:r>
            <a:endParaRPr b="1" sz="3020"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39999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 sz="1800">
                <a:solidFill>
                  <a:schemeClr val="dk1"/>
                </a:solidFill>
              </a:rPr>
              <a:t>Orbital Radar Sounders</a:t>
            </a:r>
            <a:r>
              <a:rPr lang="it" sz="1800">
                <a:solidFill>
                  <a:schemeClr val="dk1"/>
                </a:solidFill>
              </a:rPr>
              <a:t>: Acquire terabytes of subsurface data to locate Martian ice and geological structures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 sz="1800">
                <a:solidFill>
                  <a:schemeClr val="dk1"/>
                </a:solidFill>
              </a:rPr>
              <a:t>The Data Bottleneck</a:t>
            </a:r>
            <a:r>
              <a:rPr lang="it" sz="1800">
                <a:solidFill>
                  <a:schemeClr val="dk1"/>
                </a:solidFill>
              </a:rPr>
              <a:t>: The data volume (tens of TBs) vastly exceeds manual interpretation limits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 sz="1800">
                <a:solidFill>
                  <a:schemeClr val="dk1"/>
                </a:solidFill>
              </a:rPr>
              <a:t>Goal</a:t>
            </a:r>
            <a:r>
              <a:rPr lang="it" sz="1800">
                <a:solidFill>
                  <a:schemeClr val="dk1"/>
                </a:solidFill>
              </a:rPr>
              <a:t>: Develop automated, data-driven analysis pipelines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73" y="25"/>
            <a:ext cx="788066" cy="7880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" name="Google Shape;67;p14"/>
          <p:cNvGrpSpPr/>
          <p:nvPr/>
        </p:nvGrpSpPr>
        <p:grpSpPr>
          <a:xfrm>
            <a:off x="8356191" y="0"/>
            <a:ext cx="788208" cy="788125"/>
            <a:chOff x="7955150" y="0"/>
            <a:chExt cx="1188850" cy="1188725"/>
          </a:xfrm>
        </p:grpSpPr>
        <p:sp>
          <p:nvSpPr>
            <p:cNvPr id="68" name="Google Shape;68;p14"/>
            <p:cNvSpPr/>
            <p:nvPr/>
          </p:nvSpPr>
          <p:spPr>
            <a:xfrm>
              <a:off x="7955150" y="0"/>
              <a:ext cx="1188600" cy="1188600"/>
            </a:xfrm>
            <a:prstGeom prst="rect">
              <a:avLst/>
            </a:prstGeom>
            <a:solidFill>
              <a:srgbClr val="351C75"/>
            </a:solidFill>
            <a:ln cap="flat" cmpd="sng" w="6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8"/>
            </a:p>
          </p:txBody>
        </p:sp>
        <p:pic>
          <p:nvPicPr>
            <p:cNvPr id="69" name="Google Shape;69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955275" y="0"/>
              <a:ext cx="1188725" cy="11887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0" name="Google Shape;70;p14" title="img4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50800" y="1625975"/>
            <a:ext cx="4527601" cy="2469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991400" y="314550"/>
            <a:ext cx="7188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it" sz="3020"/>
              <a:t>The Challenge of Surface Clutter</a:t>
            </a:r>
            <a:endParaRPr b="1" sz="3020"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1352725"/>
            <a:ext cx="8520600" cy="37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>
                <a:solidFill>
                  <a:schemeClr val="dk1"/>
                </a:solidFill>
              </a:rPr>
              <a:t>Surface Clutter</a:t>
            </a:r>
            <a:r>
              <a:rPr lang="it">
                <a:solidFill>
                  <a:schemeClr val="dk1"/>
                </a:solidFill>
              </a:rPr>
              <a:t>: Off-nadir topographical reflections mimic true underground structures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>
                <a:solidFill>
                  <a:schemeClr val="dk1"/>
                </a:solidFill>
              </a:rPr>
              <a:t>The Domain Gap</a:t>
            </a:r>
            <a:r>
              <a:rPr lang="it">
                <a:solidFill>
                  <a:schemeClr val="dk1"/>
                </a:solidFill>
              </a:rPr>
              <a:t>: Simulators predict clutter but lack noise, speckle, and attenuation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>
                <a:solidFill>
                  <a:schemeClr val="dk1"/>
                </a:solidFill>
              </a:rPr>
              <a:t>The Machine Learning Barrier</a:t>
            </a:r>
            <a:r>
              <a:rPr lang="it">
                <a:solidFill>
                  <a:schemeClr val="dk1"/>
                </a:solidFill>
              </a:rPr>
              <a:t>: No labeled ground truth on Mars for supervised learning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73" y="25"/>
            <a:ext cx="788066" cy="7880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" name="Google Shape;78;p15"/>
          <p:cNvGrpSpPr/>
          <p:nvPr/>
        </p:nvGrpSpPr>
        <p:grpSpPr>
          <a:xfrm>
            <a:off x="8356191" y="0"/>
            <a:ext cx="788208" cy="788125"/>
            <a:chOff x="7955150" y="0"/>
            <a:chExt cx="1188850" cy="1188725"/>
          </a:xfrm>
        </p:grpSpPr>
        <p:sp>
          <p:nvSpPr>
            <p:cNvPr id="79" name="Google Shape;79;p15"/>
            <p:cNvSpPr/>
            <p:nvPr/>
          </p:nvSpPr>
          <p:spPr>
            <a:xfrm>
              <a:off x="7955150" y="0"/>
              <a:ext cx="1188600" cy="1188600"/>
            </a:xfrm>
            <a:prstGeom prst="rect">
              <a:avLst/>
            </a:prstGeom>
            <a:solidFill>
              <a:srgbClr val="351C75"/>
            </a:solidFill>
            <a:ln cap="flat" cmpd="sng" w="6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8"/>
            </a:p>
          </p:txBody>
        </p:sp>
        <p:pic>
          <p:nvPicPr>
            <p:cNvPr id="80" name="Google Shape;80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955275" y="0"/>
              <a:ext cx="1188725" cy="11887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1070900" y="314550"/>
            <a:ext cx="696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it" sz="3020"/>
              <a:t>Unsupervised Anomaly Detection via Sim-to-Real Translation</a:t>
            </a:r>
            <a:endParaRPr b="1" sz="3020"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311700" y="1390075"/>
            <a:ext cx="8044500" cy="37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>
                <a:solidFill>
                  <a:schemeClr val="dk1"/>
                </a:solidFill>
              </a:rPr>
              <a:t>Approach</a:t>
            </a:r>
            <a:r>
              <a:rPr lang="it">
                <a:solidFill>
                  <a:schemeClr val="dk1"/>
                </a:solidFill>
              </a:rPr>
              <a:t>: Sim-to-Real image translation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>
                <a:solidFill>
                  <a:schemeClr val="dk1"/>
                </a:solidFill>
              </a:rPr>
              <a:t>Hypothesis</a:t>
            </a:r>
            <a:r>
              <a:rPr lang="it">
                <a:solidFill>
                  <a:schemeClr val="dk1"/>
                </a:solidFill>
              </a:rPr>
              <a:t>: The network learns the "normal" clutter background. Unmodeled subsurface interfaces emerge as anomalies in the residual map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73" y="25"/>
            <a:ext cx="788066" cy="7880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" name="Google Shape;88;p16"/>
          <p:cNvGrpSpPr/>
          <p:nvPr/>
        </p:nvGrpSpPr>
        <p:grpSpPr>
          <a:xfrm>
            <a:off x="8356191" y="0"/>
            <a:ext cx="788208" cy="788125"/>
            <a:chOff x="7955150" y="0"/>
            <a:chExt cx="1188850" cy="1188725"/>
          </a:xfrm>
        </p:grpSpPr>
        <p:sp>
          <p:nvSpPr>
            <p:cNvPr id="89" name="Google Shape;89;p16"/>
            <p:cNvSpPr/>
            <p:nvPr/>
          </p:nvSpPr>
          <p:spPr>
            <a:xfrm>
              <a:off x="7955150" y="0"/>
              <a:ext cx="1188600" cy="1188600"/>
            </a:xfrm>
            <a:prstGeom prst="rect">
              <a:avLst/>
            </a:prstGeom>
            <a:solidFill>
              <a:srgbClr val="351C75"/>
            </a:solidFill>
            <a:ln cap="flat" cmpd="sng" w="6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8"/>
            </a:p>
          </p:txBody>
        </p:sp>
        <p:pic>
          <p:nvPicPr>
            <p:cNvPr id="90" name="Google Shape;90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955275" y="0"/>
              <a:ext cx="1188725" cy="11887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1070900" y="314550"/>
            <a:ext cx="696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it" sz="3020"/>
              <a:t>Unsupervised Anomaly Detection via Sim-to-Real Translation</a:t>
            </a:r>
            <a:endParaRPr b="1" sz="3020"/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73" y="25"/>
            <a:ext cx="788066" cy="7880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" name="Google Shape;97;p17"/>
          <p:cNvGrpSpPr/>
          <p:nvPr/>
        </p:nvGrpSpPr>
        <p:grpSpPr>
          <a:xfrm>
            <a:off x="8356191" y="0"/>
            <a:ext cx="788208" cy="788125"/>
            <a:chOff x="7955150" y="0"/>
            <a:chExt cx="1188850" cy="1188725"/>
          </a:xfrm>
        </p:grpSpPr>
        <p:sp>
          <p:nvSpPr>
            <p:cNvPr id="98" name="Google Shape;98;p17"/>
            <p:cNvSpPr/>
            <p:nvPr/>
          </p:nvSpPr>
          <p:spPr>
            <a:xfrm>
              <a:off x="7955150" y="0"/>
              <a:ext cx="1188600" cy="1188600"/>
            </a:xfrm>
            <a:prstGeom prst="rect">
              <a:avLst/>
            </a:prstGeom>
            <a:solidFill>
              <a:srgbClr val="351C75"/>
            </a:solidFill>
            <a:ln cap="flat" cmpd="sng" w="6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8"/>
            </a:p>
          </p:txBody>
        </p:sp>
        <p:pic>
          <p:nvPicPr>
            <p:cNvPr id="99" name="Google Shape;99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955275" y="0"/>
              <a:ext cx="1188725" cy="11887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0" name="Google Shape;100;p17" title="high-level-system-architecture-H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9994" y="1390200"/>
            <a:ext cx="8764815" cy="3753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1084100" y="314550"/>
            <a:ext cx="6923400" cy="10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it" sz="3020"/>
              <a:t>Scalable Data Engineering: </a:t>
            </a:r>
            <a:endParaRPr b="1" sz="30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it" sz="3020"/>
              <a:t>Dynamic Patching</a:t>
            </a:r>
            <a:endParaRPr b="1" sz="3020"/>
          </a:p>
        </p:txBody>
      </p:sp>
      <p:sp>
        <p:nvSpPr>
          <p:cNvPr id="106" name="Google Shape;106;p18"/>
          <p:cNvSpPr txBox="1"/>
          <p:nvPr>
            <p:ph idx="1" type="body"/>
          </p:nvPr>
        </p:nvSpPr>
        <p:spPr>
          <a:xfrm>
            <a:off x="4572000" y="1332450"/>
            <a:ext cx="4260300" cy="38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>
                <a:solidFill>
                  <a:schemeClr val="dk1"/>
                </a:solidFill>
              </a:rPr>
              <a:t>Surface-Aware Extraction</a:t>
            </a:r>
            <a:r>
              <a:rPr lang="it">
                <a:solidFill>
                  <a:schemeClr val="dk1"/>
                </a:solidFill>
              </a:rPr>
              <a:t>: Custom sliding window algorithm that dynamically tracks the Martian topography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>
                <a:solidFill>
                  <a:schemeClr val="dk1"/>
                </a:solidFill>
              </a:rPr>
              <a:t>Data Optimization</a:t>
            </a:r>
            <a:r>
              <a:rPr lang="it">
                <a:solidFill>
                  <a:schemeClr val="dk1"/>
                </a:solidFill>
              </a:rPr>
              <a:t>: Discards uninformative atmospheric regions, focusing strictly on the subsurface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>
                <a:solidFill>
                  <a:schemeClr val="dk1"/>
                </a:solidFill>
              </a:rPr>
              <a:t>Fast Inference Tracking</a:t>
            </a:r>
            <a:r>
              <a:rPr lang="it">
                <a:solidFill>
                  <a:schemeClr val="dk1"/>
                </a:solidFill>
              </a:rPr>
              <a:t>: Enables rapid processing of 128x128 patches (~4.2 ms per patch on RTX 3090 GPU)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7" name="Google Shape;10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73" y="25"/>
            <a:ext cx="788066" cy="7880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18"/>
          <p:cNvGrpSpPr/>
          <p:nvPr/>
        </p:nvGrpSpPr>
        <p:grpSpPr>
          <a:xfrm>
            <a:off x="8356191" y="0"/>
            <a:ext cx="788208" cy="788125"/>
            <a:chOff x="7955150" y="0"/>
            <a:chExt cx="1188850" cy="1188725"/>
          </a:xfrm>
        </p:grpSpPr>
        <p:sp>
          <p:nvSpPr>
            <p:cNvPr id="109" name="Google Shape;109;p18"/>
            <p:cNvSpPr/>
            <p:nvPr/>
          </p:nvSpPr>
          <p:spPr>
            <a:xfrm>
              <a:off x="7955150" y="0"/>
              <a:ext cx="1188600" cy="1188600"/>
            </a:xfrm>
            <a:prstGeom prst="rect">
              <a:avLst/>
            </a:prstGeom>
            <a:solidFill>
              <a:srgbClr val="351C75"/>
            </a:solidFill>
            <a:ln cap="flat" cmpd="sng" w="6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8"/>
            </a:p>
          </p:txBody>
        </p:sp>
        <p:pic>
          <p:nvPicPr>
            <p:cNvPr id="110" name="Google Shape;110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955275" y="0"/>
              <a:ext cx="1188725" cy="11887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1" name="Google Shape;111;p18" title="patch_schematic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850" y="1332450"/>
            <a:ext cx="4260300" cy="3698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787800" y="314550"/>
            <a:ext cx="7568400" cy="106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it" sz="3020"/>
              <a:t>Scalable Data Engineering: Normalization</a:t>
            </a:r>
            <a:endParaRPr b="1" sz="3020"/>
          </a:p>
        </p:txBody>
      </p:sp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492275" y="1527775"/>
            <a:ext cx="8080200" cy="26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>
                <a:solidFill>
                  <a:schemeClr val="dk1"/>
                </a:solidFill>
              </a:rPr>
              <a:t>Dynamic Range Mitigation</a:t>
            </a:r>
            <a:r>
              <a:rPr lang="it">
                <a:solidFill>
                  <a:schemeClr val="dk1"/>
                </a:solidFill>
              </a:rPr>
              <a:t>: </a:t>
            </a:r>
            <a:r>
              <a:rPr lang="it">
                <a:solidFill>
                  <a:schemeClr val="dk1"/>
                </a:solidFill>
              </a:rPr>
              <a:t>Logarithmic (dB) scaling to compress the energy difference between surface and subsurface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>
                <a:solidFill>
                  <a:schemeClr val="dk1"/>
                </a:solidFill>
              </a:rPr>
              <a:t>Min-Max Scaling</a:t>
            </a:r>
            <a:r>
              <a:rPr lang="it">
                <a:solidFill>
                  <a:schemeClr val="dk1"/>
                </a:solidFill>
              </a:rPr>
              <a:t>: </a:t>
            </a:r>
            <a:r>
              <a:rPr lang="it">
                <a:solidFill>
                  <a:schemeClr val="dk1"/>
                </a:solidFill>
              </a:rPr>
              <a:t>Applied 1st and 99th percentile clipping to suppress extreme reflections that destabilize GAN gradients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>
                <a:solidFill>
                  <a:schemeClr val="dk1"/>
                </a:solidFill>
              </a:rPr>
              <a:t>Reproducibility</a:t>
            </a:r>
            <a:r>
              <a:rPr lang="it">
                <a:solidFill>
                  <a:schemeClr val="dk1"/>
                </a:solidFill>
              </a:rPr>
              <a:t>: Fully Dockerized environment &amp; Optuna hyperparameter tuning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8" name="Google Shape;11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73" y="25"/>
            <a:ext cx="788066" cy="7880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" name="Google Shape;119;p19"/>
          <p:cNvGrpSpPr/>
          <p:nvPr/>
        </p:nvGrpSpPr>
        <p:grpSpPr>
          <a:xfrm>
            <a:off x="8356191" y="0"/>
            <a:ext cx="788208" cy="788125"/>
            <a:chOff x="7955150" y="0"/>
            <a:chExt cx="1188850" cy="1188725"/>
          </a:xfrm>
        </p:grpSpPr>
        <p:sp>
          <p:nvSpPr>
            <p:cNvPr id="120" name="Google Shape;120;p19"/>
            <p:cNvSpPr/>
            <p:nvPr/>
          </p:nvSpPr>
          <p:spPr>
            <a:xfrm>
              <a:off x="7955150" y="0"/>
              <a:ext cx="1188600" cy="1188600"/>
            </a:xfrm>
            <a:prstGeom prst="rect">
              <a:avLst/>
            </a:prstGeom>
            <a:solidFill>
              <a:srgbClr val="351C75"/>
            </a:solidFill>
            <a:ln cap="flat" cmpd="sng" w="6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8"/>
            </a:p>
          </p:txBody>
        </p:sp>
        <p:pic>
          <p:nvPicPr>
            <p:cNvPr id="121" name="Google Shape;121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955275" y="0"/>
              <a:ext cx="1188725" cy="11887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787800" y="314550"/>
            <a:ext cx="7568400" cy="106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it" sz="3020"/>
              <a:t>Scalable Data Engineering: Normalization</a:t>
            </a:r>
            <a:endParaRPr b="1" sz="3020"/>
          </a:p>
        </p:txBody>
      </p:sp>
      <p:pic>
        <p:nvPicPr>
          <p:cNvPr id="127" name="Google Shape;12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73" y="25"/>
            <a:ext cx="788066" cy="7880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" name="Google Shape;128;p20"/>
          <p:cNvGrpSpPr/>
          <p:nvPr/>
        </p:nvGrpSpPr>
        <p:grpSpPr>
          <a:xfrm>
            <a:off x="8356191" y="0"/>
            <a:ext cx="788208" cy="788125"/>
            <a:chOff x="7955150" y="0"/>
            <a:chExt cx="1188850" cy="1188725"/>
          </a:xfrm>
        </p:grpSpPr>
        <p:sp>
          <p:nvSpPr>
            <p:cNvPr id="129" name="Google Shape;129;p20"/>
            <p:cNvSpPr/>
            <p:nvPr/>
          </p:nvSpPr>
          <p:spPr>
            <a:xfrm>
              <a:off x="7955150" y="0"/>
              <a:ext cx="1188600" cy="1188600"/>
            </a:xfrm>
            <a:prstGeom prst="rect">
              <a:avLst/>
            </a:prstGeom>
            <a:solidFill>
              <a:srgbClr val="351C75"/>
            </a:solidFill>
            <a:ln cap="flat" cmpd="sng" w="6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8"/>
            </a:p>
          </p:txBody>
        </p:sp>
        <p:pic>
          <p:nvPicPr>
            <p:cNvPr id="130" name="Google Shape;130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955275" y="0"/>
              <a:ext cx="1188725" cy="11887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1" name="Google Shape;131;p20" title="linear_vs_db_sim_RGB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502300"/>
            <a:ext cx="9030826" cy="357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1242350" y="314550"/>
            <a:ext cx="662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3020"/>
              <a:t>Bridging the Gap: Unpaired Image Translation</a:t>
            </a:r>
            <a:endParaRPr b="1" sz="3020"/>
          </a:p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311700" y="1476850"/>
            <a:ext cx="8345700" cy="36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>
                <a:solidFill>
                  <a:schemeClr val="dk1"/>
                </a:solidFill>
              </a:rPr>
              <a:t>Unpaired Translation</a:t>
            </a:r>
            <a:r>
              <a:rPr lang="it">
                <a:solidFill>
                  <a:schemeClr val="dk1"/>
                </a:solidFill>
              </a:rPr>
              <a:t>: CycleGAN selected over Pix2Pix to relax spatial constraints and overcome unavoidable misalignments between simulator and real data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>
                <a:solidFill>
                  <a:schemeClr val="dk1"/>
                </a:solidFill>
              </a:rPr>
              <a:t>Cycle-Consistency</a:t>
            </a:r>
            <a:r>
              <a:rPr lang="it">
                <a:solidFill>
                  <a:schemeClr val="dk1"/>
                </a:solidFill>
              </a:rPr>
              <a:t>: Preserves input simulation structure while injecting realistic speckle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>
                <a:solidFill>
                  <a:schemeClr val="dk1"/>
                </a:solidFill>
              </a:rPr>
              <a:t>Generator (ResNet)</a:t>
            </a:r>
            <a:r>
              <a:rPr lang="it">
                <a:solidFill>
                  <a:schemeClr val="dk1"/>
                </a:solidFill>
              </a:rPr>
              <a:t>: Employs Reflection Padding instead of zero-padding to eliminate grid artifacts (edge effects) during patch reconstruction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>
                <a:solidFill>
                  <a:schemeClr val="dk1"/>
                </a:solidFill>
              </a:rPr>
              <a:t>Discriminator (PatchGAN)</a:t>
            </a:r>
            <a:r>
              <a:rPr lang="it">
                <a:solidFill>
                  <a:schemeClr val="dk1"/>
                </a:solidFill>
              </a:rPr>
              <a:t>: Enforces high-frequency texture realism to synthesize accurate speckle noise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8" name="Google Shape;13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73" y="25"/>
            <a:ext cx="788066" cy="7880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" name="Google Shape;139;p21"/>
          <p:cNvGrpSpPr/>
          <p:nvPr/>
        </p:nvGrpSpPr>
        <p:grpSpPr>
          <a:xfrm>
            <a:off x="8356191" y="0"/>
            <a:ext cx="788208" cy="788125"/>
            <a:chOff x="7955150" y="0"/>
            <a:chExt cx="1188850" cy="1188725"/>
          </a:xfrm>
        </p:grpSpPr>
        <p:sp>
          <p:nvSpPr>
            <p:cNvPr id="140" name="Google Shape;140;p21"/>
            <p:cNvSpPr/>
            <p:nvPr/>
          </p:nvSpPr>
          <p:spPr>
            <a:xfrm>
              <a:off x="7955150" y="0"/>
              <a:ext cx="1188600" cy="1188600"/>
            </a:xfrm>
            <a:prstGeom prst="rect">
              <a:avLst/>
            </a:prstGeom>
            <a:solidFill>
              <a:srgbClr val="351C75"/>
            </a:solidFill>
            <a:ln cap="flat" cmpd="sng" w="6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8"/>
            </a:p>
          </p:txBody>
        </p:sp>
        <p:pic>
          <p:nvPicPr>
            <p:cNvPr id="141" name="Google Shape;141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955275" y="0"/>
              <a:ext cx="1188725" cy="11887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787800" y="314550"/>
            <a:ext cx="7568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3020"/>
              <a:t>Validation Framework: Synthetic Anomaly Injection</a:t>
            </a:r>
            <a:endParaRPr b="1" sz="3020"/>
          </a:p>
        </p:txBody>
      </p:sp>
      <p:sp>
        <p:nvSpPr>
          <p:cNvPr id="147" name="Google Shape;147;p22"/>
          <p:cNvSpPr txBox="1"/>
          <p:nvPr>
            <p:ph idx="1" type="body"/>
          </p:nvPr>
        </p:nvSpPr>
        <p:spPr>
          <a:xfrm>
            <a:off x="311700" y="1439025"/>
            <a:ext cx="8421600" cy="32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>
                <a:solidFill>
                  <a:schemeClr val="dk1"/>
                </a:solidFill>
              </a:rPr>
              <a:t>The Challenge</a:t>
            </a:r>
            <a:r>
              <a:rPr lang="it">
                <a:solidFill>
                  <a:schemeClr val="dk1"/>
                </a:solidFill>
              </a:rPr>
              <a:t>: No labeled ground truth exists for Martian subsurface anomalies (supervised validation is impossible)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>
                <a:solidFill>
                  <a:schemeClr val="dk1"/>
                </a:solidFill>
              </a:rPr>
              <a:t>The Solution</a:t>
            </a:r>
            <a:r>
              <a:rPr lang="it">
                <a:solidFill>
                  <a:schemeClr val="dk1"/>
                </a:solidFill>
              </a:rPr>
              <a:t>: </a:t>
            </a:r>
            <a:r>
              <a:rPr lang="it">
                <a:solidFill>
                  <a:schemeClr val="dk1"/>
                </a:solidFill>
              </a:rPr>
              <a:t>Physics-informed Synthetic Anomaly Injection into real radargrams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>
                <a:solidFill>
                  <a:schemeClr val="dk1"/>
                </a:solidFill>
              </a:rPr>
              <a:t>Physical Constraints</a:t>
            </a:r>
            <a:r>
              <a:rPr lang="it">
                <a:solidFill>
                  <a:schemeClr val="dk1"/>
                </a:solidFill>
              </a:rPr>
              <a:t>: Injected targets follow depth-dependent attenuation and speckle interference laws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>
                <a:solidFill>
                  <a:schemeClr val="dk1"/>
                </a:solidFill>
              </a:rPr>
              <a:t>Advantage</a:t>
            </a:r>
            <a:r>
              <a:rPr lang="it">
                <a:solidFill>
                  <a:schemeClr val="dk1"/>
                </a:solidFill>
              </a:rPr>
              <a:t>: </a:t>
            </a:r>
            <a:r>
              <a:rPr lang="it">
                <a:solidFill>
                  <a:schemeClr val="dk1"/>
                </a:solidFill>
              </a:rPr>
              <a:t>Provides exact binary masks to compute rigorous ROC and Precision-Recall metrics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8" name="Google Shape;14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73" y="25"/>
            <a:ext cx="788066" cy="7880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9" name="Google Shape;149;p22"/>
          <p:cNvGrpSpPr/>
          <p:nvPr/>
        </p:nvGrpSpPr>
        <p:grpSpPr>
          <a:xfrm>
            <a:off x="8356191" y="0"/>
            <a:ext cx="788208" cy="788125"/>
            <a:chOff x="7955150" y="0"/>
            <a:chExt cx="1188850" cy="1188725"/>
          </a:xfrm>
        </p:grpSpPr>
        <p:sp>
          <p:nvSpPr>
            <p:cNvPr id="150" name="Google Shape;150;p22"/>
            <p:cNvSpPr/>
            <p:nvPr/>
          </p:nvSpPr>
          <p:spPr>
            <a:xfrm>
              <a:off x="7955150" y="0"/>
              <a:ext cx="1188600" cy="1188600"/>
            </a:xfrm>
            <a:prstGeom prst="rect">
              <a:avLst/>
            </a:prstGeom>
            <a:solidFill>
              <a:srgbClr val="351C75"/>
            </a:solidFill>
            <a:ln cap="flat" cmpd="sng" w="6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8"/>
            </a:p>
          </p:txBody>
        </p:sp>
        <p:pic>
          <p:nvPicPr>
            <p:cNvPr id="151" name="Google Shape;151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955275" y="0"/>
              <a:ext cx="1188725" cy="11887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>
            <p:ph type="title"/>
          </p:nvPr>
        </p:nvSpPr>
        <p:spPr>
          <a:xfrm>
            <a:off x="311700" y="356475"/>
            <a:ext cx="8520600" cy="5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it" sz="3020"/>
              <a:t>Sim-to-Real Generative Quality</a:t>
            </a:r>
            <a:endParaRPr b="1" sz="3020"/>
          </a:p>
        </p:txBody>
      </p:sp>
      <p:pic>
        <p:nvPicPr>
          <p:cNvPr id="157" name="Google Shape;15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73" y="25"/>
            <a:ext cx="788066" cy="7880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8" name="Google Shape;158;p23"/>
          <p:cNvGrpSpPr/>
          <p:nvPr/>
        </p:nvGrpSpPr>
        <p:grpSpPr>
          <a:xfrm>
            <a:off x="8356191" y="0"/>
            <a:ext cx="788208" cy="788125"/>
            <a:chOff x="7955150" y="0"/>
            <a:chExt cx="1188850" cy="1188725"/>
          </a:xfrm>
        </p:grpSpPr>
        <p:sp>
          <p:nvSpPr>
            <p:cNvPr id="159" name="Google Shape;159;p23"/>
            <p:cNvSpPr/>
            <p:nvPr/>
          </p:nvSpPr>
          <p:spPr>
            <a:xfrm>
              <a:off x="7955150" y="0"/>
              <a:ext cx="1188600" cy="1188600"/>
            </a:xfrm>
            <a:prstGeom prst="rect">
              <a:avLst/>
            </a:prstGeom>
            <a:solidFill>
              <a:srgbClr val="351C75"/>
            </a:solidFill>
            <a:ln cap="flat" cmpd="sng" w="6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8"/>
            </a:p>
          </p:txBody>
        </p:sp>
        <p:pic>
          <p:nvPicPr>
            <p:cNvPr id="160" name="Google Shape;160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955275" y="0"/>
              <a:ext cx="1188725" cy="11887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1" name="Google Shape;161;p23" title="comparison_sample_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134500"/>
            <a:ext cx="914400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3"/>
          <p:cNvSpPr txBox="1"/>
          <p:nvPr>
            <p:ph idx="2" type="body"/>
          </p:nvPr>
        </p:nvSpPr>
        <p:spPr>
          <a:xfrm>
            <a:off x="311700" y="1152475"/>
            <a:ext cx="82899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it" sz="1800">
                <a:solidFill>
                  <a:schemeClr val="dk1"/>
                </a:solidFill>
              </a:rPr>
              <a:t>CycleGAN successfully synthesizes realistic speckle and preserves topography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it" sz="1800">
                <a:solidFill>
                  <a:schemeClr val="dk1"/>
                </a:solidFill>
              </a:rPr>
              <a:t>Pix2Pix suffers from structural distortions due to imperfectly aligned data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 txBox="1"/>
          <p:nvPr>
            <p:ph type="title"/>
          </p:nvPr>
        </p:nvSpPr>
        <p:spPr>
          <a:xfrm>
            <a:off x="991775" y="314550"/>
            <a:ext cx="71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it" sz="3020"/>
              <a:t>Quantitative Generative Metrics</a:t>
            </a:r>
            <a:endParaRPr b="1" sz="3020"/>
          </a:p>
        </p:txBody>
      </p:sp>
      <p:sp>
        <p:nvSpPr>
          <p:cNvPr id="168" name="Google Shape;168;p24"/>
          <p:cNvSpPr txBox="1"/>
          <p:nvPr>
            <p:ph idx="1" type="body"/>
          </p:nvPr>
        </p:nvSpPr>
        <p:spPr>
          <a:xfrm>
            <a:off x="311700" y="1152475"/>
            <a:ext cx="88323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>
                <a:solidFill>
                  <a:schemeClr val="dk1"/>
                </a:solidFill>
              </a:rPr>
              <a:t>Fréchet Inception Distance (FID)</a:t>
            </a:r>
            <a:r>
              <a:rPr lang="it">
                <a:solidFill>
                  <a:schemeClr val="dk1"/>
                </a:solidFill>
              </a:rPr>
              <a:t>: 1.56 (CycleGAN) vs 11.03 (Pix2Pix). Confirms high statistical realism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>
                <a:solidFill>
                  <a:schemeClr val="dk1"/>
                </a:solidFill>
              </a:rPr>
              <a:t>LPIPS</a:t>
            </a:r>
            <a:r>
              <a:rPr lang="it">
                <a:solidFill>
                  <a:schemeClr val="dk1"/>
                </a:solidFill>
              </a:rPr>
              <a:t>: 0.104. Validates excellent structural integrity during domain transfer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69" name="Google Shape;16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73" y="25"/>
            <a:ext cx="788066" cy="7880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24"/>
          <p:cNvGrpSpPr/>
          <p:nvPr/>
        </p:nvGrpSpPr>
        <p:grpSpPr>
          <a:xfrm>
            <a:off x="8356191" y="0"/>
            <a:ext cx="788208" cy="788125"/>
            <a:chOff x="7955150" y="0"/>
            <a:chExt cx="1188850" cy="1188725"/>
          </a:xfrm>
        </p:grpSpPr>
        <p:sp>
          <p:nvSpPr>
            <p:cNvPr id="171" name="Google Shape;171;p24"/>
            <p:cNvSpPr/>
            <p:nvPr/>
          </p:nvSpPr>
          <p:spPr>
            <a:xfrm>
              <a:off x="7955150" y="0"/>
              <a:ext cx="1188600" cy="1188600"/>
            </a:xfrm>
            <a:prstGeom prst="rect">
              <a:avLst/>
            </a:prstGeom>
            <a:solidFill>
              <a:srgbClr val="351C75"/>
            </a:solidFill>
            <a:ln cap="flat" cmpd="sng" w="6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8"/>
            </a:p>
          </p:txBody>
        </p:sp>
        <p:pic>
          <p:nvPicPr>
            <p:cNvPr id="172" name="Google Shape;172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955275" y="0"/>
              <a:ext cx="1188725" cy="11887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73" name="Google Shape;173;p24" title="test (2)_page-0001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3025" y="2873301"/>
            <a:ext cx="8832300" cy="1268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5"/>
          <p:cNvSpPr txBox="1"/>
          <p:nvPr>
            <p:ph type="title"/>
          </p:nvPr>
        </p:nvSpPr>
        <p:spPr>
          <a:xfrm>
            <a:off x="311700" y="314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it" sz="3020"/>
              <a:t>Clutter vs. Subsurface Discrimination</a:t>
            </a:r>
            <a:endParaRPr b="1" sz="3020"/>
          </a:p>
        </p:txBody>
      </p:sp>
      <p:sp>
        <p:nvSpPr>
          <p:cNvPr id="179" name="Google Shape;179;p25"/>
          <p:cNvSpPr txBox="1"/>
          <p:nvPr>
            <p:ph idx="1" type="body"/>
          </p:nvPr>
        </p:nvSpPr>
        <p:spPr>
          <a:xfrm>
            <a:off x="311700" y="1152475"/>
            <a:ext cx="8520600" cy="17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>
                <a:solidFill>
                  <a:schemeClr val="dk1"/>
                </a:solidFill>
              </a:rPr>
              <a:t>Real</a:t>
            </a:r>
            <a:r>
              <a:rPr lang="it">
                <a:solidFill>
                  <a:schemeClr val="dk1"/>
                </a:solidFill>
              </a:rPr>
              <a:t>: Contains clutter + injected anomaly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>
                <a:solidFill>
                  <a:schemeClr val="dk1"/>
                </a:solidFill>
              </a:rPr>
              <a:t>Generated</a:t>
            </a:r>
            <a:r>
              <a:rPr lang="it">
                <a:solidFill>
                  <a:schemeClr val="dk1"/>
                </a:solidFill>
              </a:rPr>
              <a:t>: Reconstructs only surface clutter</a:t>
            </a:r>
            <a:endParaRPr i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>
                <a:solidFill>
                  <a:schemeClr val="dk1"/>
                </a:solidFill>
              </a:rPr>
              <a:t>Residual Map</a:t>
            </a:r>
            <a:r>
              <a:rPr lang="it">
                <a:solidFill>
                  <a:schemeClr val="dk1"/>
                </a:solidFill>
              </a:rPr>
              <a:t>: Successfully isolates the unmodeled subsurface anomaly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80" name="Google Shape;18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73" y="25"/>
            <a:ext cx="788066" cy="7880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" name="Google Shape;181;p25"/>
          <p:cNvGrpSpPr/>
          <p:nvPr/>
        </p:nvGrpSpPr>
        <p:grpSpPr>
          <a:xfrm>
            <a:off x="8356191" y="0"/>
            <a:ext cx="788208" cy="788125"/>
            <a:chOff x="7955150" y="0"/>
            <a:chExt cx="1188850" cy="1188725"/>
          </a:xfrm>
        </p:grpSpPr>
        <p:sp>
          <p:nvSpPr>
            <p:cNvPr id="182" name="Google Shape;182;p25"/>
            <p:cNvSpPr/>
            <p:nvPr/>
          </p:nvSpPr>
          <p:spPr>
            <a:xfrm>
              <a:off x="7955150" y="0"/>
              <a:ext cx="1188600" cy="1188600"/>
            </a:xfrm>
            <a:prstGeom prst="rect">
              <a:avLst/>
            </a:prstGeom>
            <a:solidFill>
              <a:srgbClr val="351C75"/>
            </a:solidFill>
            <a:ln cap="flat" cmpd="sng" w="6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8"/>
            </a:p>
          </p:txBody>
        </p:sp>
        <p:pic>
          <p:nvPicPr>
            <p:cNvPr id="183" name="Google Shape;183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955275" y="0"/>
              <a:ext cx="1188725" cy="11887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4" name="Google Shape;184;p25" title="sample_42_auc_0.7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571750"/>
            <a:ext cx="91440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6" title="roc_curv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571750"/>
            <a:ext cx="3429000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it">
                <a:solidFill>
                  <a:schemeClr val="dk1"/>
                </a:solidFill>
              </a:rPr>
              <a:t>Evaluated on 60 patches with injected anomalies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>
                <a:solidFill>
                  <a:schemeClr val="dk1"/>
                </a:solidFill>
              </a:rPr>
              <a:t>ROC AUC = 0.671</a:t>
            </a:r>
            <a:r>
              <a:rPr lang="it">
                <a:solidFill>
                  <a:schemeClr val="dk1"/>
                </a:solidFill>
              </a:rPr>
              <a:t>: Unsupervised discriminative capability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>
                <a:solidFill>
                  <a:schemeClr val="dk1"/>
                </a:solidFill>
              </a:rPr>
              <a:t>mAP = 0.089</a:t>
            </a:r>
            <a:r>
              <a:rPr lang="it">
                <a:solidFill>
                  <a:schemeClr val="dk1"/>
                </a:solidFill>
              </a:rPr>
              <a:t>: Highlights the inherent difficulty caused by severe speckle noise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91" name="Google Shape;19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73" y="25"/>
            <a:ext cx="788066" cy="7880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2" name="Google Shape;192;p26"/>
          <p:cNvGrpSpPr/>
          <p:nvPr/>
        </p:nvGrpSpPr>
        <p:grpSpPr>
          <a:xfrm>
            <a:off x="8356191" y="0"/>
            <a:ext cx="788208" cy="788125"/>
            <a:chOff x="7955150" y="0"/>
            <a:chExt cx="1188850" cy="1188725"/>
          </a:xfrm>
        </p:grpSpPr>
        <p:sp>
          <p:nvSpPr>
            <p:cNvPr id="193" name="Google Shape;193;p26"/>
            <p:cNvSpPr/>
            <p:nvPr/>
          </p:nvSpPr>
          <p:spPr>
            <a:xfrm>
              <a:off x="7955150" y="0"/>
              <a:ext cx="1188600" cy="1188600"/>
            </a:xfrm>
            <a:prstGeom prst="rect">
              <a:avLst/>
            </a:prstGeom>
            <a:solidFill>
              <a:srgbClr val="351C75"/>
            </a:solidFill>
            <a:ln cap="flat" cmpd="sng" w="6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8"/>
            </a:p>
          </p:txBody>
        </p:sp>
        <p:pic>
          <p:nvPicPr>
            <p:cNvPr id="194" name="Google Shape;194;p2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955275" y="0"/>
              <a:ext cx="1188725" cy="11887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6"/>
          <p:cNvSpPr txBox="1"/>
          <p:nvPr>
            <p:ph type="title"/>
          </p:nvPr>
        </p:nvSpPr>
        <p:spPr>
          <a:xfrm>
            <a:off x="311700" y="68263"/>
            <a:ext cx="8520600" cy="6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it" sz="3020"/>
              <a:t>Detection Performance</a:t>
            </a:r>
            <a:endParaRPr b="1" sz="3020"/>
          </a:p>
        </p:txBody>
      </p:sp>
      <p:pic>
        <p:nvPicPr>
          <p:cNvPr id="196" name="Google Shape;196;p26" title="pr_curv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15400" y="2571750"/>
            <a:ext cx="3429000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7"/>
          <p:cNvSpPr txBox="1"/>
          <p:nvPr>
            <p:ph type="title"/>
          </p:nvPr>
        </p:nvSpPr>
        <p:spPr>
          <a:xfrm>
            <a:off x="1225050" y="25"/>
            <a:ext cx="6693900" cy="8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it" sz="3020"/>
              <a:t>Limitations: Vision Models vs. Physical Laws</a:t>
            </a:r>
            <a:endParaRPr b="1" sz="3020"/>
          </a:p>
        </p:txBody>
      </p:sp>
      <p:sp>
        <p:nvSpPr>
          <p:cNvPr id="202" name="Google Shape;202;p27"/>
          <p:cNvSpPr txBox="1"/>
          <p:nvPr>
            <p:ph idx="1" type="body"/>
          </p:nvPr>
        </p:nvSpPr>
        <p:spPr>
          <a:xfrm>
            <a:off x="311700" y="1468350"/>
            <a:ext cx="4260300" cy="36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>
                <a:solidFill>
                  <a:schemeClr val="dk1"/>
                </a:solidFill>
              </a:rPr>
              <a:t>Signal Attenuation</a:t>
            </a:r>
            <a:r>
              <a:rPr lang="it">
                <a:solidFill>
                  <a:schemeClr val="dk1"/>
                </a:solidFill>
              </a:rPr>
              <a:t>: GANs replicate local textures but struggle to explicitly learn global exponential energy decay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>
                <a:solidFill>
                  <a:schemeClr val="dk1"/>
                </a:solidFill>
              </a:rPr>
              <a:t>Engineering Mitigation</a:t>
            </a:r>
            <a:r>
              <a:rPr lang="it">
                <a:solidFill>
                  <a:schemeClr val="dk1"/>
                </a:solidFill>
              </a:rPr>
              <a:t>: Independent Z-score normalization applied before residual computation to remove vertical bias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03" name="Google Shape;20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73" y="25"/>
            <a:ext cx="788066" cy="7880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4" name="Google Shape;204;p27"/>
          <p:cNvGrpSpPr/>
          <p:nvPr/>
        </p:nvGrpSpPr>
        <p:grpSpPr>
          <a:xfrm>
            <a:off x="8356191" y="0"/>
            <a:ext cx="788208" cy="788125"/>
            <a:chOff x="7955150" y="0"/>
            <a:chExt cx="1188850" cy="1188725"/>
          </a:xfrm>
        </p:grpSpPr>
        <p:sp>
          <p:nvSpPr>
            <p:cNvPr id="205" name="Google Shape;205;p27"/>
            <p:cNvSpPr/>
            <p:nvPr/>
          </p:nvSpPr>
          <p:spPr>
            <a:xfrm>
              <a:off x="7955150" y="0"/>
              <a:ext cx="1188600" cy="1188600"/>
            </a:xfrm>
            <a:prstGeom prst="rect">
              <a:avLst/>
            </a:prstGeom>
            <a:solidFill>
              <a:srgbClr val="351C75"/>
            </a:solidFill>
            <a:ln cap="flat" cmpd="sng" w="6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8"/>
            </a:p>
          </p:txBody>
        </p:sp>
        <p:pic>
          <p:nvPicPr>
            <p:cNvPr id="206" name="Google Shape;206;p2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955275" y="0"/>
              <a:ext cx="1188725" cy="11887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7" name="Google Shape;207;p27" title="avg_signal_attenuation_profile_normalize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1468350"/>
            <a:ext cx="4267203" cy="2837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 txBox="1"/>
          <p:nvPr>
            <p:ph type="title"/>
          </p:nvPr>
        </p:nvSpPr>
        <p:spPr>
          <a:xfrm>
            <a:off x="311700" y="314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it" sz="3020"/>
              <a:t>Conclusions</a:t>
            </a:r>
            <a:endParaRPr b="1" sz="3020"/>
          </a:p>
        </p:txBody>
      </p:sp>
      <p:sp>
        <p:nvSpPr>
          <p:cNvPr id="213" name="Google Shape;213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it">
                <a:solidFill>
                  <a:schemeClr val="dk1"/>
                </a:solidFill>
              </a:rPr>
              <a:t>Developed a scalable, memory-safe data engineering pipeline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it">
                <a:solidFill>
                  <a:schemeClr val="dk1"/>
                </a:solidFill>
              </a:rPr>
              <a:t>Successfully bridged the Sim-to-Real domain gap using CycleGAN.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it">
                <a:solidFill>
                  <a:schemeClr val="dk1"/>
                </a:solidFill>
              </a:rPr>
              <a:t>Validated an unsupervised anomaly detection framework via synthetic injection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14" name="Google Shape;21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73" y="25"/>
            <a:ext cx="788066" cy="7880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8"/>
          <p:cNvGrpSpPr/>
          <p:nvPr/>
        </p:nvGrpSpPr>
        <p:grpSpPr>
          <a:xfrm>
            <a:off x="8356191" y="0"/>
            <a:ext cx="788208" cy="788125"/>
            <a:chOff x="7955150" y="0"/>
            <a:chExt cx="1188850" cy="1188725"/>
          </a:xfrm>
        </p:grpSpPr>
        <p:sp>
          <p:nvSpPr>
            <p:cNvPr id="216" name="Google Shape;216;p28"/>
            <p:cNvSpPr/>
            <p:nvPr/>
          </p:nvSpPr>
          <p:spPr>
            <a:xfrm>
              <a:off x="7955150" y="0"/>
              <a:ext cx="1188600" cy="1188600"/>
            </a:xfrm>
            <a:prstGeom prst="rect">
              <a:avLst/>
            </a:prstGeom>
            <a:solidFill>
              <a:srgbClr val="351C75"/>
            </a:solidFill>
            <a:ln cap="flat" cmpd="sng" w="6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8"/>
            </a:p>
          </p:txBody>
        </p:sp>
        <p:pic>
          <p:nvPicPr>
            <p:cNvPr id="217" name="Google Shape;217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955275" y="0"/>
              <a:ext cx="1188725" cy="11887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9"/>
          <p:cNvSpPr txBox="1"/>
          <p:nvPr>
            <p:ph type="title"/>
          </p:nvPr>
        </p:nvSpPr>
        <p:spPr>
          <a:xfrm>
            <a:off x="311700" y="314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it" sz="3020"/>
              <a:t>Future Works</a:t>
            </a:r>
            <a:endParaRPr b="1" sz="3020"/>
          </a:p>
        </p:txBody>
      </p:sp>
      <p:sp>
        <p:nvSpPr>
          <p:cNvPr id="223" name="Google Shape;223;p29"/>
          <p:cNvSpPr txBox="1"/>
          <p:nvPr>
            <p:ph idx="1" type="body"/>
          </p:nvPr>
        </p:nvSpPr>
        <p:spPr>
          <a:xfrm>
            <a:off x="311700" y="1152475"/>
            <a:ext cx="8520600" cy="24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it">
                <a:solidFill>
                  <a:schemeClr val="dk1"/>
                </a:solidFill>
              </a:rPr>
              <a:t>Physics-Informed loss to explicitly enforce energy decay equations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it">
                <a:solidFill>
                  <a:schemeClr val="dk1"/>
                </a:solidFill>
              </a:rPr>
              <a:t>Adaptive thresholding for residual maps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it">
                <a:solidFill>
                  <a:schemeClr val="dk1"/>
                </a:solidFill>
              </a:rPr>
              <a:t>Validation on verified geological datasets from diverse Martian regions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it">
                <a:solidFill>
                  <a:schemeClr val="dk1"/>
                </a:solidFill>
              </a:rPr>
              <a:t>Extension to future planetary missions (e.g., ESA JUICE, NASA Europa Clipper) to analyze icy moons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24" name="Google Shape;22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73" y="25"/>
            <a:ext cx="788066" cy="7880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5" name="Google Shape;225;p29"/>
          <p:cNvGrpSpPr/>
          <p:nvPr/>
        </p:nvGrpSpPr>
        <p:grpSpPr>
          <a:xfrm>
            <a:off x="8356191" y="0"/>
            <a:ext cx="788208" cy="788125"/>
            <a:chOff x="7955150" y="0"/>
            <a:chExt cx="1188850" cy="1188725"/>
          </a:xfrm>
        </p:grpSpPr>
        <p:sp>
          <p:nvSpPr>
            <p:cNvPr id="226" name="Google Shape;226;p29"/>
            <p:cNvSpPr/>
            <p:nvPr/>
          </p:nvSpPr>
          <p:spPr>
            <a:xfrm>
              <a:off x="7955150" y="0"/>
              <a:ext cx="1188600" cy="1188600"/>
            </a:xfrm>
            <a:prstGeom prst="rect">
              <a:avLst/>
            </a:prstGeom>
            <a:solidFill>
              <a:srgbClr val="351C75"/>
            </a:solidFill>
            <a:ln cap="flat" cmpd="sng" w="6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8"/>
            </a:p>
          </p:txBody>
        </p:sp>
        <p:pic>
          <p:nvPicPr>
            <p:cNvPr id="227" name="Google Shape;227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955275" y="0"/>
              <a:ext cx="1188725" cy="11887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it" sz="3020"/>
              <a:t>Thank you for your attention</a:t>
            </a:r>
            <a:endParaRPr b="1" sz="3020"/>
          </a:p>
        </p:txBody>
      </p:sp>
      <p:pic>
        <p:nvPicPr>
          <p:cNvPr id="233" name="Google Shape;23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73" y="25"/>
            <a:ext cx="788066" cy="7880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4" name="Google Shape;234;p30"/>
          <p:cNvGrpSpPr/>
          <p:nvPr/>
        </p:nvGrpSpPr>
        <p:grpSpPr>
          <a:xfrm>
            <a:off x="8356191" y="0"/>
            <a:ext cx="788208" cy="788125"/>
            <a:chOff x="7955150" y="0"/>
            <a:chExt cx="1188850" cy="1188725"/>
          </a:xfrm>
        </p:grpSpPr>
        <p:sp>
          <p:nvSpPr>
            <p:cNvPr id="235" name="Google Shape;235;p30"/>
            <p:cNvSpPr/>
            <p:nvPr/>
          </p:nvSpPr>
          <p:spPr>
            <a:xfrm>
              <a:off x="7955150" y="0"/>
              <a:ext cx="1188600" cy="1188600"/>
            </a:xfrm>
            <a:prstGeom prst="rect">
              <a:avLst/>
            </a:prstGeom>
            <a:solidFill>
              <a:srgbClr val="351C75"/>
            </a:solidFill>
            <a:ln cap="flat" cmpd="sng" w="6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8"/>
            </a:p>
          </p:txBody>
        </p:sp>
        <p:pic>
          <p:nvPicPr>
            <p:cNvPr id="236" name="Google Shape;236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955275" y="0"/>
              <a:ext cx="1188725" cy="11887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7" name="Google Shape;237;p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